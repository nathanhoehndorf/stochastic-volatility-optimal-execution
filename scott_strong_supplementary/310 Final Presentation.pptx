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3"/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f66a605e9_2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df66a605e9_2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f66a605e9_2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df66a605e9_2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Pick and choose your facts: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30,000+ Mines alumni 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$95M in total research awards in fiscal year 2022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18 intercollegiate athletics teams 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250+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student organizations on campus 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/>
              <a:t>An R1 “very high research activity” institution 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$81,000 average starting salary for Colorado School of Mines graduates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1,300+ companies actively recruiting Mines students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Top 100 university, as ranked by U.S. News &amp; World Report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Top 10 graduate programs in the country for Petroleum Engineering, Geophysics, Geology, as ranked by U.S. News &amp; World Report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No. 1 best public universities by salary potential in Colorado, according to Payscale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152 Academic All-Americans – the most by any NCAA Division II institution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/>
              <a:buChar char="•"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On average, 96% of graduates have positive outcomes, such as securing a job or advancing to graduate school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$44.5M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raised by Mines in fiscal year 2022 </a:t>
            </a:r>
            <a:endParaRPr b="0" sz="1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$379.4M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invested in the Mines endowment as of November 2022 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250+ active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research faculty at Mines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u="none" strike="noStrike">
              <a:solidFill>
                <a:srgbClr val="2B2B2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/>
              <a:buNone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For the latest rankings, visit: https://www.mines.edu/rankings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f66a605e9_2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df66a605e9_2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Pick and choose your facts: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30,000+ Mines alumni 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$95M in total research awards in fiscal year 2022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18 intercollegiate athletics teams 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250+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student organizations on campus 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/>
              <a:t>An R1 “very high research activity” institution 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$81,000 average starting salary for Colorado School of Mines graduates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1,300+ companies actively recruiting Mines students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Top 100 university, as ranked by U.S. News &amp; World Report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Top 10 graduate programs in the country for Petroleum Engineering, Geophysics, Geology, as ranked by U.S. News &amp; World Report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No. 1 best public universities by salary potential in Colorado, according to Payscale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152 Academic All-Americans – the most by any NCAA Division II institution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/>
              <a:buChar char="•"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On average, 96% of graduates have positive outcomes, such as securing a job or advancing to graduate school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$44.5M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raised by Mines in fiscal year 2022 </a:t>
            </a:r>
            <a:endParaRPr b="0" sz="1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$379.4M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invested in the Mines endowment as of November 2022 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250+ active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research faculty at Mines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u="none" strike="noStrike">
              <a:solidFill>
                <a:srgbClr val="2B2B2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/>
              <a:buNone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For the latest rankings, visit: https://www.mines.edu/rankings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f66a605e9_2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f66a605e9_2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df66a605e9_2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Pick and choose your facts: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30,000+ Mines alumni 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$95M in total research awards in fiscal year 2022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18 intercollegiate athletics teams 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250+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student organizations on campus 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/>
              <a:t>An R1 “very high research activity” institution 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$81,000 average starting salary for Colorado School of Mines graduates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1,300+ companies actively recruiting Mines students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Top 100 university, as ranked by U.S. News &amp; World Report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Top 10 graduate programs in the country for Petroleum Engineering, Geophysics, Geology, as ranked by U.S. News &amp; World Report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No. 1 best public universities by salary potential in Colorado, according to Payscale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152 Academic All-Americans – the most by any NCAA Division II institution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/>
              <a:buChar char="•"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On average, 96% of graduates have positive outcomes, such as securing a job or advancing to graduate school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$44.5M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raised by Mines in fiscal year 2022 </a:t>
            </a:r>
            <a:endParaRPr b="0" sz="1200"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$379.4M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invested in the Mines endowment as of November 2022 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lang="en-US" sz="1800">
                <a:latin typeface="Arial"/>
                <a:ea typeface="Arial"/>
                <a:cs typeface="Arial"/>
                <a:sym typeface="Arial"/>
              </a:rPr>
              <a:t>250+ active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research faculty at Mines</a:t>
            </a:r>
            <a:endParaRPr/>
          </a:p>
          <a:p>
            <a:pPr indent="-952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u="none" strike="noStrike">
              <a:solidFill>
                <a:srgbClr val="2B2B2B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00"/>
              <a:buFont typeface="Arial"/>
              <a:buNone/>
            </a:pPr>
            <a:r>
              <a:rPr b="0" i="0" lang="en-US" u="none" strike="noStrike">
                <a:solidFill>
                  <a:srgbClr val="2B2B2B"/>
                </a:solidFill>
                <a:latin typeface="Lato"/>
                <a:ea typeface="Lato"/>
                <a:cs typeface="Lato"/>
                <a:sym typeface="Lato"/>
              </a:rPr>
              <a:t>For the latest rankings, visit: https://www.mines.edu/rankings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df66a605e9_2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df66a605e9_2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df66a605e9_2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f66a605e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f66a605e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df66a605e9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f9ec853e5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f9ec853e5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df9ec853e5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f9ada8cb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df9ada8cbc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df9ada8cbc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f66a605e9_2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f66a605e9_2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g3df66a605e9_2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f9ada8cbc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df9ada8cbc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df9ada8cbc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df76846691_1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df76846691_1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f76846691_1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df76846691_1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df76846691_1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df76846691_1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f76846691_1_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df76846691_1_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df76846691_1_1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df76846691_1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f66a605e9_2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df66a605e9_2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df66a605e9_2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f66a605e9_2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df66a605e9_2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g3df66a605e9_2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1835085" y="170978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-48638" y="-9728"/>
            <a:ext cx="12260094" cy="6265544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782356" y="6356352"/>
            <a:ext cx="3371044" cy="382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2"/>
          <p:cNvSpPr txBox="1"/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520878" y="3287006"/>
            <a:ext cx="911199" cy="0"/>
          </a:xfrm>
          <a:prstGeom prst="straightConnector1">
            <a:avLst/>
          </a:prstGeom>
          <a:noFill/>
          <a:ln cap="flat" cmpd="sng" w="28575">
            <a:solidFill>
              <a:srgbClr val="D2492A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24" y="6321114"/>
            <a:ext cx="4464148" cy="450289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4">
            <a:alphaModFix amt="10000"/>
          </a:blip>
          <a:srcRect b="0" l="0" r="0" t="0"/>
          <a:stretch/>
        </p:blipFill>
        <p:spPr>
          <a:xfrm>
            <a:off x="7384256" y="-12784"/>
            <a:ext cx="6962859" cy="6599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b="0" i="0" sz="24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32" name="Google Shape;3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2111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5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3" type="body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5"/>
          <p:cNvSpPr txBox="1"/>
          <p:nvPr>
            <p:ph idx="4" type="body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450058" y="472281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/>
          <p:nvPr>
            <p:ph idx="2" type="pic"/>
          </p:nvPr>
        </p:nvSpPr>
        <p:spPr>
          <a:xfrm>
            <a:off x="5183189" y="2"/>
            <a:ext cx="7008812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"/>
          <p:cNvSpPr txBox="1"/>
          <p:nvPr>
            <p:ph idx="1" type="body"/>
          </p:nvPr>
        </p:nvSpPr>
        <p:spPr>
          <a:xfrm>
            <a:off x="450058" y="207248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6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"/>
          <p:cNvSpPr/>
          <p:nvPr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7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7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72" name="Google Shape;7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"/>
          <p:cNvSpPr txBox="1"/>
          <p:nvPr>
            <p:ph idx="1" type="body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8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8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82" name="Google Shape;8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/>
          <p:nvPr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9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7384256" y="-12784"/>
            <a:ext cx="6962859" cy="65995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>
            <p:ph idx="1" type="subTitle"/>
          </p:nvPr>
        </p:nvSpPr>
        <p:spPr>
          <a:xfrm>
            <a:off x="2046399" y="25310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i="0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0"/>
          <p:cNvSpPr/>
          <p:nvPr>
            <p:ph idx="2" type="pic"/>
          </p:nvPr>
        </p:nvSpPr>
        <p:spPr>
          <a:xfrm>
            <a:off x="0" y="1"/>
            <a:ext cx="12192000" cy="557703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10"/>
          <p:cNvSpPr txBox="1"/>
          <p:nvPr>
            <p:ph type="title"/>
          </p:nvPr>
        </p:nvSpPr>
        <p:spPr>
          <a:xfrm>
            <a:off x="838200" y="553243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2400"/>
              <a:buFont typeface="Arial"/>
              <a:buNone/>
              <a:defRPr sz="24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type="title"/>
          </p:nvPr>
        </p:nvSpPr>
        <p:spPr>
          <a:xfrm>
            <a:off x="7060252" y="982464"/>
            <a:ext cx="4862405" cy="17940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1" type="body"/>
          </p:nvPr>
        </p:nvSpPr>
        <p:spPr>
          <a:xfrm>
            <a:off x="7060253" y="3052261"/>
            <a:ext cx="4862404" cy="19759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1"/>
          <p:cNvSpPr/>
          <p:nvPr>
            <p:ph idx="2" type="pic"/>
          </p:nvPr>
        </p:nvSpPr>
        <p:spPr>
          <a:xfrm>
            <a:off x="0" y="3"/>
            <a:ext cx="6890995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1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2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105" name="Google Shape;10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3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13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114" name="Google Shape;11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"/>
          <p:cNvSpPr txBox="1"/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4"/>
          <p:cNvSpPr txBox="1"/>
          <p:nvPr>
            <p:ph idx="1" type="body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4"/>
          <p:cNvSpPr txBox="1"/>
          <p:nvPr>
            <p:ph idx="10" type="dt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11" type="ftr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12" type="sldNum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8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8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/>
          </a:p>
        </p:txBody>
      </p:sp>
      <p:pic>
        <p:nvPicPr>
          <p:cNvPr id="123" name="Google Shape;12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1835085" y="170978"/>
            <a:ext cx="10356917" cy="5825766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16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16"/>
          <p:cNvSpPr/>
          <p:nvPr/>
        </p:nvSpPr>
        <p:spPr>
          <a:xfrm>
            <a:off x="-48638" y="-9728"/>
            <a:ext cx="12260100" cy="62655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4782356" y="6356352"/>
            <a:ext cx="33711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16"/>
          <p:cNvSpPr txBox="1"/>
          <p:nvPr>
            <p:ph type="ctrTitle"/>
          </p:nvPr>
        </p:nvSpPr>
        <p:spPr>
          <a:xfrm>
            <a:off x="395371" y="2243579"/>
            <a:ext cx="108036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cxnSp>
        <p:nvCxnSpPr>
          <p:cNvPr id="134" name="Google Shape;134;p16"/>
          <p:cNvCxnSpPr/>
          <p:nvPr/>
        </p:nvCxnSpPr>
        <p:spPr>
          <a:xfrm>
            <a:off x="520878" y="3287006"/>
            <a:ext cx="911100" cy="0"/>
          </a:xfrm>
          <a:prstGeom prst="straightConnector1">
            <a:avLst/>
          </a:prstGeom>
          <a:noFill/>
          <a:ln cap="flat" cmpd="sng" w="28575">
            <a:solidFill>
              <a:srgbClr val="D2492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" name="Google Shape;135;p16"/>
          <p:cNvSpPr/>
          <p:nvPr/>
        </p:nvSpPr>
        <p:spPr>
          <a:xfrm>
            <a:off x="224424" y="6321114"/>
            <a:ext cx="4464148" cy="450289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6"/>
          <p:cNvSpPr txBox="1"/>
          <p:nvPr/>
        </p:nvSpPr>
        <p:spPr>
          <a:xfrm>
            <a:off x="7478040" y="6407925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137" name="Google Shape;137;p16"/>
          <p:cNvSpPr txBox="1"/>
          <p:nvPr>
            <p:ph idx="1" type="subTitle"/>
          </p:nvPr>
        </p:nvSpPr>
        <p:spPr>
          <a:xfrm>
            <a:off x="395371" y="373729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38" name="Google Shape;138;p16"/>
          <p:cNvSpPr/>
          <p:nvPr/>
        </p:nvSpPr>
        <p:spPr>
          <a:xfrm>
            <a:off x="7384256" y="-12784"/>
            <a:ext cx="6962864" cy="65995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-9728" y="-9729"/>
            <a:ext cx="12201600" cy="62655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831851" y="1709740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831851" y="4589465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b="0" i="0" sz="24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478040" y="6407925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147" name="Google Shape;147;p17"/>
          <p:cNvSpPr/>
          <p:nvPr/>
        </p:nvSpPr>
        <p:spPr>
          <a:xfrm>
            <a:off x="224424" y="632111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1" name="Google Shape;151;p1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2" name="Google Shape;152;p18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p18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-9728" y="6265545"/>
            <a:ext cx="12201600" cy="5925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7478040" y="6398498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157" name="Google Shape;157;p18"/>
          <p:cNvSpPr/>
          <p:nvPr/>
        </p:nvSpPr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839788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839789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1" name="Google Shape;161;p19"/>
          <p:cNvSpPr txBox="1"/>
          <p:nvPr>
            <p:ph idx="2" type="body"/>
          </p:nvPr>
        </p:nvSpPr>
        <p:spPr>
          <a:xfrm>
            <a:off x="839789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62" name="Google Shape;162;p19"/>
          <p:cNvSpPr txBox="1"/>
          <p:nvPr>
            <p:ph idx="3" type="body"/>
          </p:nvPr>
        </p:nvSpPr>
        <p:spPr>
          <a:xfrm>
            <a:off x="6172201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3" name="Google Shape;163;p19"/>
          <p:cNvSpPr txBox="1"/>
          <p:nvPr>
            <p:ph idx="4" type="body"/>
          </p:nvPr>
        </p:nvSpPr>
        <p:spPr>
          <a:xfrm>
            <a:off x="6172201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64" name="Google Shape;164;p19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6" name="Google Shape;166;p19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-9728" y="6265545"/>
            <a:ext cx="12201600" cy="5925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7478040" y="6398498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169" name="Google Shape;169;p19"/>
          <p:cNvSpPr/>
          <p:nvPr/>
        </p:nvSpPr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-10048" y="-10049"/>
            <a:ext cx="5183100" cy="69435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50058" y="472281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3" name="Google Shape;173;p20"/>
          <p:cNvSpPr/>
          <p:nvPr>
            <p:ph idx="2" type="pic"/>
          </p:nvPr>
        </p:nvSpPr>
        <p:spPr>
          <a:xfrm>
            <a:off x="5183189" y="2"/>
            <a:ext cx="7008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450058" y="2072481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75" name="Google Shape;175;p20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20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20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1" name="Google Shape;181;p21"/>
          <p:cNvSpPr/>
          <p:nvPr/>
        </p:nvSpPr>
        <p:spPr>
          <a:xfrm>
            <a:off x="-9728" y="6265545"/>
            <a:ext cx="12201600" cy="6021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83" name="Google Shape;183;p21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21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7478040" y="6398498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187" name="Google Shape;187;p21"/>
          <p:cNvSpPr/>
          <p:nvPr/>
        </p:nvSpPr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0" name="Google Shape;190;p22"/>
          <p:cNvSpPr txBox="1"/>
          <p:nvPr>
            <p:ph idx="1" type="body"/>
          </p:nvPr>
        </p:nvSpPr>
        <p:spPr>
          <a:xfrm>
            <a:off x="5183188" y="987427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1" name="Google Shape;191;p2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92" name="Google Shape;192;p22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-9728" y="6265545"/>
            <a:ext cx="12201600" cy="5925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7478040" y="6398498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197" name="Google Shape;197;p22"/>
          <p:cNvSpPr/>
          <p:nvPr/>
        </p:nvSpPr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/>
          <p:nvPr/>
        </p:nvSpPr>
        <p:spPr>
          <a:xfrm>
            <a:off x="-10048" y="-10048"/>
            <a:ext cx="12201900" cy="68679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7384256" y="-12784"/>
            <a:ext cx="6962864" cy="659958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23"/>
          <p:cNvSpPr txBox="1"/>
          <p:nvPr>
            <p:ph idx="1" type="subTitle"/>
          </p:nvPr>
        </p:nvSpPr>
        <p:spPr>
          <a:xfrm>
            <a:off x="2046399" y="2531096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i="0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lvl="2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lvl="3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lvl="4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4" name="Google Shape;204;p24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24"/>
          <p:cNvSpPr/>
          <p:nvPr>
            <p:ph idx="2" type="pic"/>
          </p:nvPr>
        </p:nvSpPr>
        <p:spPr>
          <a:xfrm>
            <a:off x="0" y="1"/>
            <a:ext cx="12192000" cy="55773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4"/>
          <p:cNvSpPr txBox="1"/>
          <p:nvPr>
            <p:ph type="title"/>
          </p:nvPr>
        </p:nvSpPr>
        <p:spPr>
          <a:xfrm>
            <a:off x="838200" y="55324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2400"/>
              <a:buFont typeface="Arial"/>
              <a:buNone/>
              <a:defRPr sz="24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type="title"/>
          </p:nvPr>
        </p:nvSpPr>
        <p:spPr>
          <a:xfrm>
            <a:off x="7060252" y="982464"/>
            <a:ext cx="48624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0" name="Google Shape;210;p25"/>
          <p:cNvSpPr txBox="1"/>
          <p:nvPr>
            <p:ph idx="1" type="body"/>
          </p:nvPr>
        </p:nvSpPr>
        <p:spPr>
          <a:xfrm>
            <a:off x="7060253" y="3052261"/>
            <a:ext cx="4862400" cy="19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indent="-34925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indent="-34925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11" name="Google Shape;211;p25"/>
          <p:cNvSpPr/>
          <p:nvPr>
            <p:ph idx="2" type="pic"/>
          </p:nvPr>
        </p:nvSpPr>
        <p:spPr>
          <a:xfrm>
            <a:off x="0" y="3"/>
            <a:ext cx="68913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25"/>
          <p:cNvSpPr txBox="1"/>
          <p:nvPr/>
        </p:nvSpPr>
        <p:spPr>
          <a:xfrm>
            <a:off x="7478040" y="6407925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5" name="Google Shape;215;p26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6" name="Google Shape;216;p26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26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-9728" y="6265545"/>
            <a:ext cx="12201600" cy="5925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7478040" y="6398498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220" name="Google Shape;220;p26"/>
          <p:cNvSpPr/>
          <p:nvPr/>
        </p:nvSpPr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7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3" name="Google Shape;223;p27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24" name="Google Shape;224;p27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27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27"/>
          <p:cNvSpPr/>
          <p:nvPr/>
        </p:nvSpPr>
        <p:spPr>
          <a:xfrm>
            <a:off x="-10048" y="6265545"/>
            <a:ext cx="12201900" cy="6021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7478040" y="6398498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229" name="Google Shape;229;p27"/>
          <p:cNvSpPr/>
          <p:nvPr/>
        </p:nvSpPr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8"/>
          <p:cNvSpPr txBox="1"/>
          <p:nvPr>
            <p:ph type="title"/>
          </p:nvPr>
        </p:nvSpPr>
        <p:spPr>
          <a:xfrm rot="5400000">
            <a:off x="7133401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2" name="Google Shape;232;p28"/>
          <p:cNvSpPr txBox="1"/>
          <p:nvPr>
            <p:ph idx="1" type="body"/>
          </p:nvPr>
        </p:nvSpPr>
        <p:spPr>
          <a:xfrm rot="5400000">
            <a:off x="1799401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3" name="Google Shape;233;p28"/>
          <p:cNvSpPr txBox="1"/>
          <p:nvPr>
            <p:ph idx="10" type="dt"/>
          </p:nvPr>
        </p:nvSpPr>
        <p:spPr>
          <a:xfrm>
            <a:off x="8382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8"/>
          <p:cNvSpPr txBox="1"/>
          <p:nvPr>
            <p:ph idx="11" type="ftr"/>
          </p:nvPr>
        </p:nvSpPr>
        <p:spPr>
          <a:xfrm>
            <a:off x="4038600" y="6356352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" name="Google Shape;235;p28"/>
          <p:cNvSpPr txBox="1"/>
          <p:nvPr>
            <p:ph idx="12" type="sldNum"/>
          </p:nvPr>
        </p:nvSpPr>
        <p:spPr>
          <a:xfrm>
            <a:off x="8610600" y="6356352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28"/>
          <p:cNvSpPr/>
          <p:nvPr/>
        </p:nvSpPr>
        <p:spPr>
          <a:xfrm>
            <a:off x="-10048" y="6265545"/>
            <a:ext cx="12201900" cy="602100"/>
          </a:xfrm>
          <a:prstGeom prst="rect">
            <a:avLst/>
          </a:prstGeom>
          <a:solidFill>
            <a:srgbClr val="21314D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7478040" y="6398498"/>
            <a:ext cx="4489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MINES</a:t>
            </a:r>
            <a:r>
              <a:rPr b="1" i="0" lang="en-US" sz="190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en-US" sz="190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>EDU</a:t>
            </a:r>
            <a:endParaRPr sz="1500"/>
          </a:p>
        </p:txBody>
      </p:sp>
      <p:sp>
        <p:nvSpPr>
          <p:cNvPr id="238" name="Google Shape;238;p28"/>
          <p:cNvSpPr/>
          <p:nvPr/>
        </p:nvSpPr>
        <p:spPr>
          <a:xfrm>
            <a:off x="224424" y="6354364"/>
            <a:ext cx="4464148" cy="45028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b="1" i="0" sz="4400" u="none" cap="none" strike="noStrik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5.png"/><Relationship Id="rId4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Relationship Id="rId9" Type="http://schemas.openxmlformats.org/officeDocument/2006/relationships/image" Target="../media/image38.jpg"/><Relationship Id="rId5" Type="http://schemas.openxmlformats.org/officeDocument/2006/relationships/image" Target="../media/image39.png"/><Relationship Id="rId6" Type="http://schemas.openxmlformats.org/officeDocument/2006/relationships/image" Target="../media/image30.png"/><Relationship Id="rId7" Type="http://schemas.openxmlformats.org/officeDocument/2006/relationships/image" Target="../media/image36.png"/><Relationship Id="rId8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Optimal Execution under Stochastic Volatility</a:t>
            </a:r>
            <a:endParaRPr/>
          </a:p>
        </p:txBody>
      </p:sp>
      <p:sp>
        <p:nvSpPr>
          <p:cNvPr id="244" name="Google Shape;244;p29"/>
          <p:cNvSpPr txBox="1"/>
          <p:nvPr>
            <p:ph idx="1" type="subTitle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/>
              <a:t>By: Ben, Danielle, Milo, Nathan Hess, Nathan Hoendorf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Stock market </a:t>
            </a:r>
            <a:endParaRPr/>
          </a:p>
        </p:txBody>
      </p:sp>
      <p:sp>
        <p:nvSpPr>
          <p:cNvPr id="250" name="Google Shape;250;p30"/>
          <p:cNvSpPr txBox="1"/>
          <p:nvPr/>
        </p:nvSpPr>
        <p:spPr>
          <a:xfrm>
            <a:off x="79125" y="1022900"/>
            <a:ext cx="86637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Bid price: Highest price buyers willing to pay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Ask price: Lowest price sellers will accept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Bid-ask spread: Difference between ask and bid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Limited order book: List of buy and sell orders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Liquidity: volume available near current price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Volatility: how much price moves over time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251" name="Google Shape;251;p30" title="Screenshot 2026-05-08 at 9.59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425" y="3816225"/>
            <a:ext cx="5552727" cy="244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 title="Screenshot 2026-05-08 at 10.00.1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275" y="1081875"/>
            <a:ext cx="3737723" cy="2445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The </a:t>
            </a:r>
            <a:r>
              <a:rPr lang="en-US"/>
              <a:t>fundamental</a:t>
            </a:r>
            <a:r>
              <a:rPr lang="en-US"/>
              <a:t> idea</a:t>
            </a:r>
            <a:endParaRPr/>
          </a:p>
        </p:txBody>
      </p:sp>
      <p:sp>
        <p:nvSpPr>
          <p:cNvPr id="258" name="Google Shape;258;p31"/>
          <p:cNvSpPr txBox="1"/>
          <p:nvPr/>
        </p:nvSpPr>
        <p:spPr>
          <a:xfrm>
            <a:off x="79125" y="1022900"/>
            <a:ext cx="121128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Large trade incur two risks: Market impact, and Price Risk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Market impact: trading too quickly can move market against us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Market impact: Large orders consume liquidity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Price risk: Trading too slowly leaves too much exposure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-"/>
            </a:pPr>
            <a:r>
              <a:rPr lang="en-US" sz="2800">
                <a:solidFill>
                  <a:schemeClr val="lt1"/>
                </a:solidFill>
              </a:rPr>
              <a:t>Price risk: Higher volatility leads to more uncertainty in execution cost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/>
          <p:nvPr>
            <p:ph idx="1" type="subTitle"/>
          </p:nvPr>
        </p:nvSpPr>
        <p:spPr>
          <a:xfrm>
            <a:off x="2034823" y="2531096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/>
              <a:t>Now for some math</a:t>
            </a:r>
            <a:endParaRPr/>
          </a:p>
        </p:txBody>
      </p:sp>
      <p:cxnSp>
        <p:nvCxnSpPr>
          <p:cNvPr id="264" name="Google Shape;264;p32"/>
          <p:cNvCxnSpPr/>
          <p:nvPr/>
        </p:nvCxnSpPr>
        <p:spPr>
          <a:xfrm rot="10800000">
            <a:off x="1835040" y="2530989"/>
            <a:ext cx="1200" cy="1450500"/>
          </a:xfrm>
          <a:prstGeom prst="straightConnector1">
            <a:avLst/>
          </a:prstGeom>
          <a:noFill/>
          <a:ln cap="flat" cmpd="sng" w="28575">
            <a:solidFill>
              <a:srgbClr val="D2492A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Almgren </a:t>
            </a:r>
            <a:r>
              <a:rPr lang="en-US"/>
              <a:t>Chriss</a:t>
            </a:r>
            <a:endParaRPr/>
          </a:p>
        </p:txBody>
      </p:sp>
      <p:sp>
        <p:nvSpPr>
          <p:cNvPr id="271" name="Google Shape;271;p33"/>
          <p:cNvSpPr txBox="1"/>
          <p:nvPr/>
        </p:nvSpPr>
        <p:spPr>
          <a:xfrm>
            <a:off x="121500" y="1056825"/>
            <a:ext cx="99267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Key Idea: Balance low market impact against low price risk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121500" y="1836525"/>
            <a:ext cx="99267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Inventory Dynamics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73" name="Google Shape;27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7000" y="1590700"/>
            <a:ext cx="300990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3"/>
          <p:cNvSpPr txBox="1"/>
          <p:nvPr/>
        </p:nvSpPr>
        <p:spPr>
          <a:xfrm>
            <a:off x="121500" y="2573850"/>
            <a:ext cx="99267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Market Impact Features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75" name="Google Shape;27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53450" y="3582400"/>
            <a:ext cx="4443443" cy="26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3"/>
          <p:cNvSpPr txBox="1"/>
          <p:nvPr/>
        </p:nvSpPr>
        <p:spPr>
          <a:xfrm>
            <a:off x="121500" y="3268775"/>
            <a:ext cx="9926700" cy="12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Optimal Trajectory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77" name="Google Shape;2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3792" y="3582400"/>
            <a:ext cx="3049657" cy="25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6550" y="2345325"/>
            <a:ext cx="1323975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6475" y="4090875"/>
            <a:ext cx="22002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More Almgren Chriss</a:t>
            </a:r>
            <a:endParaRPr/>
          </a:p>
        </p:txBody>
      </p:sp>
      <p:sp>
        <p:nvSpPr>
          <p:cNvPr id="286" name="Google Shape;286;p34"/>
          <p:cNvSpPr txBox="1"/>
          <p:nvPr/>
        </p:nvSpPr>
        <p:spPr>
          <a:xfrm>
            <a:off x="163900" y="1039850"/>
            <a:ext cx="57306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Almgren Chriss assumes: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87" name="Google Shape;2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975" y="1039850"/>
            <a:ext cx="1895475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4"/>
          <p:cNvSpPr txBox="1"/>
          <p:nvPr/>
        </p:nvSpPr>
        <p:spPr>
          <a:xfrm>
            <a:off x="163900" y="1639925"/>
            <a:ext cx="6773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However in actuality </a:t>
            </a:r>
            <a:r>
              <a:rPr lang="en-US" sz="2800">
                <a:solidFill>
                  <a:schemeClr val="dk1"/>
                </a:solidFill>
              </a:rPr>
              <a:t>volatility</a:t>
            </a:r>
            <a:r>
              <a:rPr lang="en-US" sz="2800">
                <a:solidFill>
                  <a:schemeClr val="dk1"/>
                </a:solidFill>
              </a:rPr>
              <a:t> changes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289" name="Google Shape;289;p34"/>
          <p:cNvSpPr txBox="1"/>
          <p:nvPr/>
        </p:nvSpPr>
        <p:spPr>
          <a:xfrm>
            <a:off x="163900" y="2284000"/>
            <a:ext cx="6773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Helped by the Heston model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Stochastic Calculus and Ito</a:t>
            </a:r>
            <a:endParaRPr/>
          </a:p>
        </p:txBody>
      </p:sp>
      <p:sp>
        <p:nvSpPr>
          <p:cNvPr id="296" name="Google Shape;296;p35"/>
          <p:cNvSpPr txBox="1"/>
          <p:nvPr/>
        </p:nvSpPr>
        <p:spPr>
          <a:xfrm>
            <a:off x="163900" y="1039850"/>
            <a:ext cx="109608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In regular calculus change is deterministic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297" name="Google Shape;29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950" y="1590550"/>
            <a:ext cx="16954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950" y="2671625"/>
            <a:ext cx="249555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5"/>
          <p:cNvSpPr txBox="1"/>
          <p:nvPr/>
        </p:nvSpPr>
        <p:spPr>
          <a:xfrm>
            <a:off x="163900" y="2090825"/>
            <a:ext cx="109608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Stochastic calculus has both a predictable and random element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00" name="Google Shape;300;p35"/>
          <p:cNvSpPr txBox="1"/>
          <p:nvPr/>
        </p:nvSpPr>
        <p:spPr>
          <a:xfrm>
            <a:off x="163900" y="3043200"/>
            <a:ext cx="109608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Ito’s lemma solves being able to do the chain rule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01" name="Google Shape;30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950" y="3594200"/>
            <a:ext cx="4895850" cy="6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Heston</a:t>
            </a:r>
            <a:endParaRPr/>
          </a:p>
        </p:txBody>
      </p:sp>
      <p:pic>
        <p:nvPicPr>
          <p:cNvPr id="307" name="Google Shape;30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0225" y="562451"/>
            <a:ext cx="6351775" cy="400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6" title="dynamic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666600"/>
            <a:ext cx="6501474" cy="258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6"/>
          <p:cNvSpPr txBox="1"/>
          <p:nvPr/>
        </p:nvSpPr>
        <p:spPr>
          <a:xfrm>
            <a:off x="155425" y="1345050"/>
            <a:ext cx="671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variance is now calculated so it is no longer constant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10" name="Google Shape;310;p36"/>
          <p:cNvSpPr txBox="1"/>
          <p:nvPr/>
        </p:nvSpPr>
        <p:spPr>
          <a:xfrm>
            <a:off x="155425" y="2544425"/>
            <a:ext cx="671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Says how volatility should shape AC Solution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11" name="Google Shape;311;p36"/>
          <p:cNvPicPr preferRelativeResize="0"/>
          <p:nvPr/>
        </p:nvPicPr>
        <p:blipFill rotWithShape="1">
          <a:blip r:embed="rId3">
            <a:alphaModFix/>
          </a:blip>
          <a:srcRect b="0" l="0" r="0" t="89016"/>
          <a:stretch/>
        </p:blipFill>
        <p:spPr>
          <a:xfrm>
            <a:off x="5757000" y="4055276"/>
            <a:ext cx="6351775" cy="439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7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Hamilton–Jacobi–Bellman equation</a:t>
            </a:r>
            <a:endParaRPr/>
          </a:p>
        </p:txBody>
      </p:sp>
      <p:sp>
        <p:nvSpPr>
          <p:cNvPr id="318" name="Google Shape;318;p37"/>
          <p:cNvSpPr txBox="1"/>
          <p:nvPr>
            <p:ph idx="1" type="body"/>
          </p:nvPr>
        </p:nvSpPr>
        <p:spPr>
          <a:xfrm>
            <a:off x="838200" y="1577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A partial differential equation setup that assumes the most optimal route is being taken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Plugging in and combining Almgren Chriss and Hesston dynamics gives a “monster” PDE that is non-linear and cannot be solved easily</a:t>
            </a:r>
            <a:endParaRPr/>
          </a:p>
        </p:txBody>
      </p:sp>
      <p:pic>
        <p:nvPicPr>
          <p:cNvPr id="319" name="Google Shape;31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600" y="4687175"/>
            <a:ext cx="792480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Use of perturbation</a:t>
            </a:r>
            <a:endParaRPr/>
          </a:p>
        </p:txBody>
      </p:sp>
      <p:sp>
        <p:nvSpPr>
          <p:cNvPr id="325" name="Google Shape;325;p38"/>
          <p:cNvSpPr txBox="1"/>
          <p:nvPr/>
        </p:nvSpPr>
        <p:spPr>
          <a:xfrm>
            <a:off x="152400" y="3017950"/>
            <a:ext cx="671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Takin small perturbation around the </a:t>
            </a:r>
            <a:r>
              <a:rPr lang="en-US" sz="2800">
                <a:solidFill>
                  <a:schemeClr val="dk1"/>
                </a:solidFill>
              </a:rPr>
              <a:t>volatility</a:t>
            </a:r>
            <a:r>
              <a:rPr lang="en-US" sz="2800">
                <a:solidFill>
                  <a:schemeClr val="dk1"/>
                </a:solidFill>
              </a:rPr>
              <a:t> of </a:t>
            </a:r>
            <a:r>
              <a:rPr lang="en-US" sz="2800">
                <a:solidFill>
                  <a:schemeClr val="dk1"/>
                </a:solidFill>
              </a:rPr>
              <a:t>volatility</a:t>
            </a:r>
            <a:r>
              <a:rPr lang="en-US" sz="2800">
                <a:solidFill>
                  <a:schemeClr val="dk1"/>
                </a:solidFill>
              </a:rPr>
              <a:t> parameter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26" name="Google Shape;3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0000" y="1294150"/>
            <a:ext cx="5722001" cy="3077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8"/>
          <p:cNvSpPr txBox="1"/>
          <p:nvPr/>
        </p:nvSpPr>
        <p:spPr>
          <a:xfrm>
            <a:off x="152400" y="4382375"/>
            <a:ext cx="671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Used as an approximation due to equations complexity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28" name="Google Shape;328;p38"/>
          <p:cNvSpPr txBox="1"/>
          <p:nvPr/>
        </p:nvSpPr>
        <p:spPr>
          <a:xfrm>
            <a:off x="152400" y="1223315"/>
            <a:ext cx="6714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Assuming </a:t>
            </a:r>
            <a:r>
              <a:rPr lang="en-US" sz="2800">
                <a:solidFill>
                  <a:schemeClr val="dk1"/>
                </a:solidFill>
              </a:rPr>
              <a:t>volatility</a:t>
            </a:r>
            <a:r>
              <a:rPr lang="en-US" sz="2800">
                <a:solidFill>
                  <a:schemeClr val="dk1"/>
                </a:solidFill>
              </a:rPr>
              <a:t> of volatility is small allows us to perform a </a:t>
            </a:r>
            <a:r>
              <a:rPr lang="en-US" sz="2800">
                <a:solidFill>
                  <a:schemeClr val="dk1"/>
                </a:solidFill>
              </a:rPr>
              <a:t>maclaurin</a:t>
            </a:r>
            <a:r>
              <a:rPr lang="en-US" sz="2800">
                <a:solidFill>
                  <a:schemeClr val="dk1"/>
                </a:solidFill>
              </a:rPr>
              <a:t> </a:t>
            </a:r>
            <a:r>
              <a:rPr lang="en-US" sz="2800">
                <a:solidFill>
                  <a:schemeClr val="dk1"/>
                </a:solidFill>
              </a:rPr>
              <a:t>expansion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Solving </a:t>
            </a:r>
            <a:r>
              <a:rPr lang="en-US"/>
              <a:t>Perturbation</a:t>
            </a:r>
            <a:endParaRPr/>
          </a:p>
        </p:txBody>
      </p:sp>
      <p:pic>
        <p:nvPicPr>
          <p:cNvPr id="335" name="Google Shape;33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2125" y="4479700"/>
            <a:ext cx="3560325" cy="103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1800" y="3013525"/>
            <a:ext cx="5099274" cy="9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9"/>
          <p:cNvSpPr txBox="1"/>
          <p:nvPr/>
        </p:nvSpPr>
        <p:spPr>
          <a:xfrm>
            <a:off x="359650" y="1828825"/>
            <a:ext cx="6758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Due to terms </a:t>
            </a:r>
            <a:r>
              <a:rPr lang="en-US" sz="2800">
                <a:solidFill>
                  <a:schemeClr val="dk1"/>
                </a:solidFill>
              </a:rPr>
              <a:t>eventually</a:t>
            </a:r>
            <a:r>
              <a:rPr lang="en-US" sz="2800">
                <a:solidFill>
                  <a:schemeClr val="dk1"/>
                </a:solidFill>
              </a:rPr>
              <a:t> differentiating out we can take out the needed terms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38" name="Google Shape;33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87075" y="2038075"/>
            <a:ext cx="3612326" cy="7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68225" y="1422475"/>
            <a:ext cx="3050024" cy="61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9"/>
          <p:cNvSpPr txBox="1"/>
          <p:nvPr/>
        </p:nvSpPr>
        <p:spPr>
          <a:xfrm>
            <a:off x="359650" y="3277575"/>
            <a:ext cx="6758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When constructing the HJB the equation for trading amount is already </a:t>
            </a:r>
            <a:r>
              <a:rPr lang="en-US" sz="2800">
                <a:solidFill>
                  <a:schemeClr val="dk1"/>
                </a:solidFill>
              </a:rPr>
              <a:t>defined</a:t>
            </a:r>
            <a:r>
              <a:rPr lang="en-US" sz="2800">
                <a:solidFill>
                  <a:schemeClr val="dk1"/>
                </a:solidFill>
              </a:rPr>
              <a:t> and now it can be plugged in </a:t>
            </a:r>
            <a:r>
              <a:rPr lang="en-US" sz="2800">
                <a:solidFill>
                  <a:schemeClr val="dk1"/>
                </a:solidFill>
              </a:rPr>
              <a:t>again for the optimal trade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0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Volatility-Adjusted Trading Rate</a:t>
            </a:r>
            <a:endParaRPr/>
          </a:p>
        </p:txBody>
      </p:sp>
      <p:pic>
        <p:nvPicPr>
          <p:cNvPr descr="image.png" id="347" name="Google Shape;34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4450" y="1673850"/>
            <a:ext cx="6729775" cy="866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0"/>
          <p:cNvSpPr txBox="1"/>
          <p:nvPr/>
        </p:nvSpPr>
        <p:spPr>
          <a:xfrm>
            <a:off x="53700" y="997475"/>
            <a:ext cx="120546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Equation/Strategy combines AC schedule with dynamic stochastic correction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49" name="Google Shape;349;p40"/>
          <p:cNvSpPr txBox="1"/>
          <p:nvPr/>
        </p:nvSpPr>
        <p:spPr>
          <a:xfrm>
            <a:off x="68700" y="2412950"/>
            <a:ext cx="120546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Rho greater than zero signifies rising risk, thus the correction must slow liquidation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50" name="Google Shape;350;p40"/>
          <p:cNvSpPr txBox="1"/>
          <p:nvPr/>
        </p:nvSpPr>
        <p:spPr>
          <a:xfrm>
            <a:off x="68700" y="3413075"/>
            <a:ext cx="120546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Rho less than zero signifies appreciation, thus execution is sped up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51" name="Google Shape;351;p40"/>
          <p:cNvSpPr txBox="1"/>
          <p:nvPr/>
        </p:nvSpPr>
        <p:spPr>
          <a:xfrm>
            <a:off x="137400" y="4269050"/>
            <a:ext cx="12054600" cy="15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Strongest correction is during middle </a:t>
            </a:r>
            <a:r>
              <a:rPr lang="en-US" sz="2800">
                <a:solidFill>
                  <a:schemeClr val="dk1"/>
                </a:solidFill>
              </a:rPr>
              <a:t>horizon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How they work together</a:t>
            </a:r>
            <a:endParaRPr/>
          </a:p>
        </p:txBody>
      </p:sp>
      <p:pic>
        <p:nvPicPr>
          <p:cNvPr id="357" name="Google Shape;3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90493"/>
            <a:ext cx="10801350" cy="2400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8" name="Google Shape;358;p41"/>
          <p:cNvCxnSpPr/>
          <p:nvPr/>
        </p:nvCxnSpPr>
        <p:spPr>
          <a:xfrm>
            <a:off x="308000" y="1497625"/>
            <a:ext cx="107490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1"/>
          <p:cNvCxnSpPr/>
          <p:nvPr/>
        </p:nvCxnSpPr>
        <p:spPr>
          <a:xfrm flipH="1">
            <a:off x="3029250" y="1523050"/>
            <a:ext cx="8400" cy="181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41"/>
          <p:cNvCxnSpPr/>
          <p:nvPr/>
        </p:nvCxnSpPr>
        <p:spPr>
          <a:xfrm>
            <a:off x="6623475" y="1514575"/>
            <a:ext cx="25500" cy="17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367" name="Google Shape;367;p42"/>
          <p:cNvSpPr txBox="1"/>
          <p:nvPr/>
        </p:nvSpPr>
        <p:spPr>
          <a:xfrm>
            <a:off x="138450" y="1073775"/>
            <a:ext cx="78075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We used the free lobster financial dataset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68" name="Google Shape;3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4025" y="0"/>
            <a:ext cx="5207974" cy="11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2"/>
          <p:cNvSpPr txBox="1"/>
          <p:nvPr/>
        </p:nvSpPr>
        <p:spPr>
          <a:xfrm>
            <a:off x="138450" y="1819650"/>
            <a:ext cx="78075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Data includes levels of bid and ask (up to 10)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70" name="Google Shape;370;p42"/>
          <p:cNvSpPr txBox="1"/>
          <p:nvPr/>
        </p:nvSpPr>
        <p:spPr>
          <a:xfrm>
            <a:off x="138450" y="2870700"/>
            <a:ext cx="78075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These bid and ask orders are all all (up to level) that happened during the trading day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71" name="Google Shape;371;p42"/>
          <p:cNvSpPr txBox="1"/>
          <p:nvPr/>
        </p:nvSpPr>
        <p:spPr>
          <a:xfrm>
            <a:off x="138450" y="3811600"/>
            <a:ext cx="78075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Free data: Apple, Amazon, Google, Intel, Microsoft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72" name="Google Shape;372;p42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5725" y="2235125"/>
            <a:ext cx="3987075" cy="28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3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Computation &amp; Data</a:t>
            </a:r>
            <a:endParaRPr/>
          </a:p>
        </p:txBody>
      </p:sp>
      <p:sp>
        <p:nvSpPr>
          <p:cNvPr id="379" name="Google Shape;379;p43"/>
          <p:cNvSpPr txBox="1"/>
          <p:nvPr/>
        </p:nvSpPr>
        <p:spPr>
          <a:xfrm>
            <a:off x="138450" y="1073775"/>
            <a:ext cx="119868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Calibration of: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80" name="Google Shape;38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6825" y="1209075"/>
            <a:ext cx="260985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1675" y="1294800"/>
            <a:ext cx="32385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0525" y="1285275"/>
            <a:ext cx="2857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64550" y="1109063"/>
            <a:ext cx="26955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2225" y="1294800"/>
            <a:ext cx="29527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3"/>
          <p:cNvSpPr txBox="1"/>
          <p:nvPr/>
        </p:nvSpPr>
        <p:spPr>
          <a:xfrm>
            <a:off x="138450" y="1889650"/>
            <a:ext cx="119868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Calibration of heston: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86" name="Google Shape;386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79575" y="2004250"/>
            <a:ext cx="21526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3"/>
          <p:cNvSpPr txBox="1"/>
          <p:nvPr/>
        </p:nvSpPr>
        <p:spPr>
          <a:xfrm>
            <a:off x="138450" y="2705525"/>
            <a:ext cx="119868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Use 10,000 M</a:t>
            </a:r>
            <a:r>
              <a:rPr lang="en-US" sz="2800">
                <a:solidFill>
                  <a:schemeClr val="dk1"/>
                </a:solidFill>
              </a:rPr>
              <a:t>onte Carlo</a:t>
            </a:r>
            <a:r>
              <a:rPr lang="en-US" sz="2800">
                <a:solidFill>
                  <a:schemeClr val="dk1"/>
                </a:solidFill>
              </a:rPr>
              <a:t> paths for simulation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88" name="Google Shape;388;p43" title="download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52400" y="3468125"/>
            <a:ext cx="3580375" cy="25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3"/>
          <p:cNvSpPr txBox="1"/>
          <p:nvPr/>
        </p:nvSpPr>
        <p:spPr>
          <a:xfrm>
            <a:off x="3825825" y="4402600"/>
            <a:ext cx="119868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lang="en-US" sz="2800">
                <a:solidFill>
                  <a:schemeClr val="dk1"/>
                </a:solidFill>
              </a:rPr>
              <a:t>Calibrate	based off given company 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390" name="Google Shape;39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8625" y="4579100"/>
            <a:ext cx="2857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07450" y="3315725"/>
            <a:ext cx="3686175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4"/>
          <p:cNvSpPr txBox="1"/>
          <p:nvPr>
            <p:ph type="title"/>
          </p:nvPr>
        </p:nvSpPr>
        <p:spPr>
          <a:xfrm>
            <a:off x="450050" y="472278"/>
            <a:ext cx="3932100" cy="7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Code/Errors</a:t>
            </a:r>
            <a:endParaRPr/>
          </a:p>
        </p:txBody>
      </p:sp>
      <p:sp>
        <p:nvSpPr>
          <p:cNvPr id="397" name="Google Shape;397;p44"/>
          <p:cNvSpPr txBox="1"/>
          <p:nvPr>
            <p:ph idx="1" type="body"/>
          </p:nvPr>
        </p:nvSpPr>
        <p:spPr>
          <a:xfrm>
            <a:off x="138450" y="1387425"/>
            <a:ext cx="4908300" cy="44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43854" lvl="0" marL="457189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Heston paths were sensitive to parameter choices.</a:t>
            </a:r>
            <a:endParaRPr/>
          </a:p>
          <a:p>
            <a:pPr indent="-443854" lvl="0" marL="457189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Some simulated price paths became implausibly large.</a:t>
            </a:r>
            <a:endParaRPr/>
          </a:p>
          <a:p>
            <a:pPr indent="-443854" lvl="0" marL="457189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Regime analysis failed when invalid paths removed too many paired samples.</a:t>
            </a:r>
            <a:endParaRPr/>
          </a:p>
          <a:p>
            <a:pPr indent="-443854" lvl="0" marL="457189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Calibration for eta and was semi-stable.</a:t>
            </a:r>
            <a:endParaRPr/>
          </a:p>
          <a:p>
            <a:pPr indent="-443854" lvl="0" marL="457189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Results should be interpreted as exploratory rather than final</a:t>
            </a:r>
            <a:endParaRPr/>
          </a:p>
        </p:txBody>
      </p:sp>
      <p:pic>
        <p:nvPicPr>
          <p:cNvPr id="398" name="Google Shape;3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875" y="0"/>
            <a:ext cx="7017125" cy="437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4875" y="4379425"/>
            <a:ext cx="7017124" cy="25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>
            <p:ph idx="1" type="subTitle"/>
          </p:nvPr>
        </p:nvSpPr>
        <p:spPr>
          <a:xfrm>
            <a:off x="2034823" y="2531096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/>
              <a:t>Now for some analysis</a:t>
            </a:r>
            <a:endParaRPr/>
          </a:p>
        </p:txBody>
      </p:sp>
      <p:cxnSp>
        <p:nvCxnSpPr>
          <p:cNvPr id="405" name="Google Shape;405;p45"/>
          <p:cNvCxnSpPr/>
          <p:nvPr/>
        </p:nvCxnSpPr>
        <p:spPr>
          <a:xfrm rot="10800000">
            <a:off x="1835085" y="2531098"/>
            <a:ext cx="1155" cy="1450391"/>
          </a:xfrm>
          <a:prstGeom prst="straightConnector1">
            <a:avLst/>
          </a:prstGeom>
          <a:noFill/>
          <a:ln cap="flat" cmpd="sng" w="28575">
            <a:solidFill>
              <a:srgbClr val="D2492A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6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/>
              <a:t>Statistics</a:t>
            </a:r>
            <a:endParaRPr/>
          </a:p>
        </p:txBody>
      </p:sp>
      <p:sp>
        <p:nvSpPr>
          <p:cNvPr id="411" name="Google Shape;411;p46"/>
          <p:cNvSpPr txBox="1"/>
          <p:nvPr>
            <p:ph idx="1" type="body"/>
          </p:nvPr>
        </p:nvSpPr>
        <p:spPr>
          <a:xfrm>
            <a:off x="174033" y="1609100"/>
            <a:ext cx="6946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609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Paired t-test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t-statistic: -1.5880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p-value (one-sided): </a:t>
            </a:r>
            <a:r>
              <a:rPr lang="en-US">
                <a:highlight>
                  <a:srgbClr val="FFE599"/>
                </a:highlight>
              </a:rPr>
              <a:t>0.9438</a:t>
            </a:r>
            <a:endParaRPr>
              <a:highlight>
                <a:srgbClr val="FFE599"/>
              </a:highlight>
            </a:endParaRPr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Reject H0: False </a:t>
            </a:r>
            <a:endParaRPr/>
          </a:p>
          <a:p>
            <a:pPr indent="-482600" lvl="0" marL="609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Wilcoxon Signed-Rank Test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p-value (one-sided): </a:t>
            </a:r>
            <a:r>
              <a:rPr lang="en-US">
                <a:highlight>
                  <a:srgbClr val="FFE599"/>
                </a:highlight>
              </a:rPr>
              <a:t>0.9787</a:t>
            </a:r>
            <a:endParaRPr>
              <a:highlight>
                <a:srgbClr val="FFE599"/>
              </a:highlight>
            </a:endParaRPr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Reject H0: 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6"/>
          <p:cNvSpPr txBox="1"/>
          <p:nvPr/>
        </p:nvSpPr>
        <p:spPr>
          <a:xfrm>
            <a:off x="7250700" y="1868267"/>
            <a:ext cx="4576800" cy="3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Indicates that the added complexity did not have a statistically significant cost advantage on average IS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/>
              <a:t>Statistics</a:t>
            </a:r>
            <a:endParaRPr/>
          </a:p>
        </p:txBody>
      </p:sp>
      <p:sp>
        <p:nvSpPr>
          <p:cNvPr id="418" name="Google Shape;418;p47"/>
          <p:cNvSpPr txBox="1"/>
          <p:nvPr>
            <p:ph idx="1" type="body"/>
          </p:nvPr>
        </p:nvSpPr>
        <p:spPr>
          <a:xfrm>
            <a:off x="159600" y="1690733"/>
            <a:ext cx="8130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Across-dataset paired t-test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Valid datasets for mean test: 15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t-statistic: -1.1828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one-sided p-value: </a:t>
            </a:r>
            <a:r>
              <a:rPr lang="en-US">
                <a:highlight>
                  <a:srgbClr val="FFE599"/>
                </a:highlight>
              </a:rPr>
              <a:t>0.8717</a:t>
            </a:r>
            <a:endParaRPr>
              <a:highlight>
                <a:srgbClr val="FFE599"/>
              </a:highlight>
            </a:endParaRPr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Heston has lower mean IS across datasets: False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7"/>
          <p:cNvSpPr txBox="1"/>
          <p:nvPr/>
        </p:nvSpPr>
        <p:spPr>
          <a:xfrm>
            <a:off x="8145867" y="1334100"/>
            <a:ext cx="3840300" cy="4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Implies that the Heston model does not perform statistically better when looking at overall market conditions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8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/>
              <a:t>Statistics</a:t>
            </a:r>
            <a:endParaRPr/>
          </a:p>
        </p:txBody>
      </p:sp>
      <p:sp>
        <p:nvSpPr>
          <p:cNvPr id="425" name="Google Shape;425;p48"/>
          <p:cNvSpPr txBox="1"/>
          <p:nvPr>
            <p:ph idx="1" type="body"/>
          </p:nvPr>
        </p:nvSpPr>
        <p:spPr>
          <a:xfrm>
            <a:off x="87433" y="16907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Regime Analysis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low-vol (vol ∈ [0.107, 0.190], n=3333)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   Median diff=32660353.41521  p=</a:t>
            </a:r>
            <a:r>
              <a:rPr lang="en-US">
                <a:highlight>
                  <a:srgbClr val="FFE599"/>
                </a:highlight>
              </a:rPr>
              <a:t>0.0000</a:t>
            </a:r>
            <a:r>
              <a:rPr lang="en-US"/>
              <a:t>  Reject H0: True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mid-vol (vol ∈ [0.190, 0.221], n=3333)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   Median diff=-284291.67914  p=</a:t>
            </a:r>
            <a:r>
              <a:rPr lang="en-US">
                <a:highlight>
                  <a:srgbClr val="FFE599"/>
                </a:highlight>
              </a:rPr>
              <a:t>0.2141</a:t>
            </a:r>
            <a:r>
              <a:rPr lang="en-US"/>
              <a:t>  Reject H0: False</a:t>
            </a:r>
            <a:endParaRPr/>
          </a:p>
          <a:p>
            <a:pPr indent="0" lvl="0" marL="1219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high-vol (vol ∈ [0.221, 0.381], n=3333)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   Median diff=-44922694.11317  p=</a:t>
            </a:r>
            <a:r>
              <a:rPr lang="en-US">
                <a:highlight>
                  <a:srgbClr val="FFE599"/>
                </a:highlight>
              </a:rPr>
              <a:t>1.0000</a:t>
            </a:r>
            <a:r>
              <a:rPr lang="en-US"/>
              <a:t>  Reject H0: False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9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/>
              <a:t>Statistics</a:t>
            </a:r>
            <a:endParaRPr/>
          </a:p>
        </p:txBody>
      </p:sp>
      <p:sp>
        <p:nvSpPr>
          <p:cNvPr id="431" name="Google Shape;431;p49"/>
          <p:cNvSpPr txBox="1"/>
          <p:nvPr>
            <p:ph idx="1" type="body"/>
          </p:nvPr>
        </p:nvSpPr>
        <p:spPr>
          <a:xfrm>
            <a:off x="145167" y="1690733"/>
            <a:ext cx="697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Levene Variance Test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Statistic: 17124.0874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p-value (one-sided) : </a:t>
            </a:r>
            <a:r>
              <a:rPr lang="en-US">
                <a:highlight>
                  <a:srgbClr val="FFE599"/>
                </a:highlight>
              </a:rPr>
              <a:t>1.0000</a:t>
            </a:r>
            <a:endParaRPr>
              <a:highlight>
                <a:srgbClr val="FFE599"/>
              </a:highlight>
            </a:endParaRPr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Reject H0: False</a:t>
            </a:r>
            <a:endParaRPr/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Two-Sample KS Test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KS statistic: 0.5071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p-value (two-sided): </a:t>
            </a:r>
            <a:r>
              <a:rPr lang="en-US">
                <a:highlight>
                  <a:srgbClr val="FFE599"/>
                </a:highlight>
              </a:rPr>
              <a:t>0.0000</a:t>
            </a:r>
            <a:endParaRPr>
              <a:highlight>
                <a:srgbClr val="FFE599"/>
              </a:highlight>
            </a:endParaRPr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   Reject H0: True</a:t>
            </a:r>
            <a:endParaRPr/>
          </a:p>
        </p:txBody>
      </p:sp>
      <p:sp>
        <p:nvSpPr>
          <p:cNvPr id="432" name="Google Shape;432;p49"/>
          <p:cNvSpPr txBox="1"/>
          <p:nvPr/>
        </p:nvSpPr>
        <p:spPr>
          <a:xfrm>
            <a:off x="7423967" y="1709433"/>
            <a:ext cx="4461300" cy="4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Indicates that the AC model performs safer</a:t>
            </a:r>
            <a:endParaRPr sz="2800">
              <a:solidFill>
                <a:schemeClr val="dk1"/>
              </a:solidFill>
            </a:endParaRPr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Indicates that they have statistically different results and are not interchangeable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 txBox="1"/>
          <p:nvPr>
            <p:ph type="title"/>
          </p:nvPr>
        </p:nvSpPr>
        <p:spPr>
          <a:xfrm>
            <a:off x="838200" y="36512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/>
              <a:t>Statistics</a:t>
            </a:r>
            <a:endParaRPr/>
          </a:p>
        </p:txBody>
      </p:sp>
      <p:sp>
        <p:nvSpPr>
          <p:cNvPr id="438" name="Google Shape;438;p50"/>
          <p:cNvSpPr txBox="1"/>
          <p:nvPr>
            <p:ph idx="1" type="body"/>
          </p:nvPr>
        </p:nvSpPr>
        <p:spPr>
          <a:xfrm>
            <a:off x="217367" y="1690733"/>
            <a:ext cx="81741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6096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 sz="2400"/>
              <a:t>--- Sharpe-like reliability comparison ---</a:t>
            </a:r>
            <a:endParaRPr sz="2400"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Valid datasets for Sharpe test: 15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Mean Sharpe_AC: -46455.47665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Mean Sharpe_Hest: -2138.87188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t-statistic (Sharpe): 2.8762</a:t>
            </a:r>
            <a:endParaRPr/>
          </a:p>
          <a:p>
            <a:pPr indent="-457200" lvl="1" marL="12192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-US"/>
              <a:t>one-sided p-value (Sharpe): </a:t>
            </a:r>
            <a:r>
              <a:rPr lang="en-US">
                <a:highlight>
                  <a:srgbClr val="FFE599"/>
                </a:highlight>
              </a:rPr>
              <a:t>0.0061</a:t>
            </a:r>
            <a:endParaRPr/>
          </a:p>
        </p:txBody>
      </p:sp>
      <p:sp>
        <p:nvSpPr>
          <p:cNvPr id="439" name="Google Shape;439;p50"/>
          <p:cNvSpPr txBox="1"/>
          <p:nvPr/>
        </p:nvSpPr>
        <p:spPr>
          <a:xfrm>
            <a:off x="8174767" y="1253400"/>
            <a:ext cx="38115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Implies that the Heston model performs much better in more stable markets </a:t>
            </a:r>
            <a:endParaRPr sz="2800">
              <a:solidFill>
                <a:schemeClr val="dk1"/>
              </a:solidFill>
            </a:endParaRPr>
          </a:p>
          <a:p>
            <a:pPr indent="-482600" lvl="0" marL="609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As volatility increases, the safer AC model takes less risks, reducing losses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1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Interpretation</a:t>
            </a:r>
            <a:endParaRPr/>
          </a:p>
        </p:txBody>
      </p:sp>
      <p:sp>
        <p:nvSpPr>
          <p:cNvPr id="445" name="Google Shape;445;p51"/>
          <p:cNvSpPr txBox="1"/>
          <p:nvPr/>
        </p:nvSpPr>
        <p:spPr>
          <a:xfrm>
            <a:off x="421575" y="1435125"/>
            <a:ext cx="11304900" cy="4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The Heston model performs significantly better than AC in low-volatility environments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Heston model takes more risks and has a much higher variance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AC performs safer than Heston, so in high-volatility environments, it mitigates risk</a:t>
            </a:r>
            <a:endParaRPr sz="2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2"/>
          <p:cNvSpPr txBox="1"/>
          <p:nvPr>
            <p:ph type="title"/>
          </p:nvPr>
        </p:nvSpPr>
        <p:spPr>
          <a:xfrm>
            <a:off x="35000" y="-7"/>
            <a:ext cx="9784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/>
              <a:t>Areas to continue</a:t>
            </a:r>
            <a:endParaRPr/>
          </a:p>
        </p:txBody>
      </p:sp>
      <p:sp>
        <p:nvSpPr>
          <p:cNvPr id="452" name="Google Shape;452;p52"/>
          <p:cNvSpPr txBox="1"/>
          <p:nvPr/>
        </p:nvSpPr>
        <p:spPr>
          <a:xfrm>
            <a:off x="176150" y="1189675"/>
            <a:ext cx="11694600" cy="48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Our </a:t>
            </a:r>
            <a:r>
              <a:rPr lang="en-US" sz="2800">
                <a:solidFill>
                  <a:schemeClr val="lt1"/>
                </a:solidFill>
              </a:rPr>
              <a:t>computation</a:t>
            </a:r>
            <a:r>
              <a:rPr lang="en-US" sz="2800">
                <a:solidFill>
                  <a:schemeClr val="lt1"/>
                </a:solidFill>
              </a:rPr>
              <a:t> certainly had mistakes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Our ansatz need to be justified, and could be improved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Linear market impact is assumed to be linear, research shows it is usually root-2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Liquidity is </a:t>
            </a:r>
            <a:r>
              <a:rPr lang="en-US" sz="2800">
                <a:solidFill>
                  <a:schemeClr val="lt1"/>
                </a:solidFill>
              </a:rPr>
              <a:t>assumed</a:t>
            </a:r>
            <a:r>
              <a:rPr lang="en-US" sz="2800">
                <a:solidFill>
                  <a:schemeClr val="lt1"/>
                </a:solidFill>
              </a:rPr>
              <a:t> to be </a:t>
            </a:r>
            <a:r>
              <a:rPr lang="en-US" sz="2800">
                <a:solidFill>
                  <a:schemeClr val="lt1"/>
                </a:solidFill>
              </a:rPr>
              <a:t>constant</a:t>
            </a:r>
            <a:r>
              <a:rPr lang="en-US" sz="2800">
                <a:solidFill>
                  <a:schemeClr val="lt1"/>
                </a:solidFill>
              </a:rPr>
              <a:t>, meaning every transaction is locally equally equivalent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Our Limit Order Book Mechanics are simplified from real market microstructure</a:t>
            </a:r>
            <a:endParaRPr sz="2800">
              <a:solidFill>
                <a:schemeClr val="lt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</a:pPr>
            <a:r>
              <a:rPr lang="en-US" sz="2800">
                <a:solidFill>
                  <a:schemeClr val="lt1"/>
                </a:solidFill>
              </a:rPr>
              <a:t>We assume variance evolves slowly over time, instead of Heston’s complicated conditional expectation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"/>
          <p:cNvSpPr txBox="1"/>
          <p:nvPr>
            <p:ph type="title"/>
          </p:nvPr>
        </p:nvSpPr>
        <p:spPr>
          <a:xfrm>
            <a:off x="43476" y="48215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for listening!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